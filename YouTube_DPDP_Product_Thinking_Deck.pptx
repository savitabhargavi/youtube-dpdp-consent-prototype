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8-Week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VPC Coverage %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</c:v>
                </c:pt>
                <c:pt idx="1">
                  <c:v>80</c:v>
                </c:pt>
                <c:pt idx="2">
                  <c:v>85</c:v>
                </c:pt>
                <c:pt idx="3">
                  <c:v>89</c:v>
                </c:pt>
                <c:pt idx="4">
                  <c:v>91</c:v>
                </c:pt>
                <c:pt idx="5">
                  <c:v>90.5</c:v>
                </c:pt>
                <c:pt idx="6">
                  <c:v>88</c:v>
                </c:pt>
                <c:pt idx="7">
                  <c:v>87.3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VPC Coverage %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Android</c:v>
                  </c:pt>
                  <c:pt idx="1">
                    <c:v>iOS</c:v>
                  </c:pt>
                  <c:pt idx="2">
                    <c:v>Web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</c:v>
                </c:pt>
                <c:pt idx="1">
                  <c:v>86</c:v>
                </c:pt>
                <c:pt idx="2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VPC Coverage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13–15 yrs</c:v>
                  </c:pt>
                  <c:pt idx="1">
                    <c:v>16–17 yrs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Unverified Minors Are Using YouTube's Main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Age assurance and verifiable parental consent (VPC) for under-18 users on the core YouTube experience — not YouTube Kids.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500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trust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4261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assume YouTube gates content and data collection by age. Today's self-declared birthdate makes that assumption false.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186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risk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51129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2023 sets India's minor threshold at under 18 and mandates verifiable parental consent before processing a child's personal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873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Children's data exposure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37997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Minors who pass as adults get full ad-personalisation, recommendation profiling, and comment exposure meant for adults only.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169164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0C3A3E"/>
          </a:solidFill>
          <a:ln w="12700">
            <a:solidFill>
              <a:srgbClr val="155C6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92024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738360" y="1947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Assumptions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281160" y="2423160"/>
            <a:ext cx="2240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uses self-declared birthdate only; no ID or vendor verification today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Supervised/Kids experiences exist but are opt-in, rarely chosen by teens 13–17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personalisation &amp; watch history are ON by default for all ages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"Personal data" includes viewing behaviour, contacts sync, and location tags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DPDP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USER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People Share One Consent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Ananya, 14 — the user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9 student, Tier-2 city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6177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Owns a phone, uses YouTube daily for study help, music and entertainment — often unsupervised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Enters a fake birthdate once to "unlock" the full app; can't undo it or understand what data is now collected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Gets ads and recommendations built on a profile she never knowingly agreed to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She has no real say — and no easy way — to see or limit what's collected about her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82512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02552" y="20574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222199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62672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Rakesh, 42 — the consent-giver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62672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Ananya's father, working parent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702552" y="2880360"/>
            <a:ext cx="46177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Legally the one who must give verifiable consent under DPDP — but has no visibility into Ananya's account today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No prompt, dashboard, or notification ever reaches him about his daughter's account or data use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If he did want to intervene, there's no clear way to review, restrict, or delete her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Compliance depends entirely on reaching him — the product currently has no channel to do so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DPDP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CURRENT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Flow Has No Real Age Gate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3332" y="19659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0939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243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89864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 + self-declared birthdate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90672" y="2560320"/>
            <a:ext cx="17373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178308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6532" y="19659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548" y="209397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6243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Auto-route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29000" y="289864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13 → Kids/Supervised. 13–17 → standard app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833872" y="2560320"/>
            <a:ext cx="17373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2"/>
          <p:cNvSpPr/>
          <p:nvPr/>
        </p:nvSpPr>
        <p:spPr>
          <a:xfrm>
            <a:off x="6035040" y="178308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99732" y="19659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48" y="209397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6243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access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72200" y="289864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personalisation &amp; watch history ON by default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577072" y="2560320"/>
            <a:ext cx="17373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Shape 17"/>
          <p:cNvSpPr/>
          <p:nvPr/>
        </p:nvSpPr>
        <p:spPr>
          <a:xfrm>
            <a:off x="8778240" y="178308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BEAE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42932" y="1965960"/>
            <a:ext cx="585216" cy="585216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948" y="2093976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15400" y="26243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re-check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915400" y="289864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later verification, even if behaviour suggests a minor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falls short of DPDP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48640" y="42519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parental consent — a birthdate field is not verification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minimisation for likely-minor accounts (full profiling by default)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for a parent to access, correct, or erase a minor's data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30936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friction &amp; risk points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309360" y="42519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are incentivised to lie about age to avoid restrictions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structurally invisible to the product — zero touchpoints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fix that adds friction risks hurting signup conversion for adults too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DPDP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Layered Age-Assurance &amp; Consent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05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Smarter signup signals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Birthdate stays, plus optional trusted signals (school-linked login) that can confirm — never just self-lower — an age band.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78308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1305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Behavioural safety net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80560" y="30175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model flags accounts likely under 18 that slipped through signup, based on content and usage patterns, for re-verification.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78308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1305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Verifiable Parental Consent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83880" y="30175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Flagged/confirmed minors trigger a VPC flow: parent completes DigiLocker or video-KYC verification, then gets a dashboard to review, adjust, or revoke consent and request deletion.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data minimisation: ad personalisation and watch-history profiling stay OFF for any confirmed under-18 account until a parent opts in.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4937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over the alternatives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5780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quo (self-declared)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DPDP verifiability — 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ID check for all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Kills conversion for the ~95% who are adults — 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Layered / adaptive (chosen)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only likely-minors; adults barely notice a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6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DPDP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North Star, Backed by Supporting &amp; Guardrail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 Coverage Rate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under-18 accounts (flagged or declared) with valid, current Verifiable Parental Consent on 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Target: 90%+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METRICS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10312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09360" y="20756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age-verification completion rate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7860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9360" y="25511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Re-verification completion rate within 7 days of a behavioural flag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5409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30266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consent dashboard monthly engagement rate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94360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06908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40416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signup funnel drop-off (must not rise more than 3 pts)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54456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09360" y="451713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Consent/verification-related support ticket volume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48640" y="39319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VPC Coverage Rate: it directly measures legal compliance (consent must be valid &amp; current) while staying a single, unambiguous number leadership can track weekly.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DPDP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SUCCESS CRITERIA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"It Worked" Looks Like, in Numbers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57200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 Coverage Rate reaches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 of flagged/declared under-18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 post-launch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 conversion stays 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Signup drop-off increase ≤ 3 percentage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Continuously monitored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 actively engage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dashboard MAU ≥ 40% of consenting parents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 post-launch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load stays manageable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Consent-related tickets &lt; 0.5% of all signups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Continuously monitored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Re-verification loop closes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75% of flagged accounts re-verify within 7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 post-launch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DPDP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DIAGNOSTIC THINKING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NSM Drops 15% in Week 3 — No Release Shipped. Now What?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09160" y="16002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70916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 Coverage Rate ↓15%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2148840"/>
            <a:ext cx="0" cy="3657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514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243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issue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consent emails failing to deliver (spam filter or vendor change)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2148840"/>
            <a:ext cx="0" cy="3657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514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26243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issue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vendor/logging bug undercounts consents after a dependency update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0" y="2148840"/>
            <a:ext cx="0" cy="3657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514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6243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Behavioural issue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consent step causes parents to abandon mid-flow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287000" y="2148840"/>
            <a:ext cx="0" cy="3657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2514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98280" y="26243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factor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98280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dip (exams/holidays) reduces parent engagement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I'd analyse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step-by-step conversion (email sent → opened → verification started → completed)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vendor API success/error rates over the same window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split: new accounts vs. previously-flagged accounts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Platform/device and geography breakdown to localise the fault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&amp; next steps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09360" y="44805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any dependency change (vendor, email provider) even without our own release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specific step's conversion collapsed, isolate and hotfix or roll back that step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affected parents directly; extend grace period so no one loses access unfairly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blameless post-launch review; add an alert so this triggers automatically next time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DPDP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VPC Health at a Glance (Mock Data)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8880" cy="1417320"/>
          </a:xfrm>
          <a:prstGeom prst="roundRect">
            <a:avLst>
              <a:gd name="adj" fmla="val 580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COVERAGE RATE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87.3%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3.7 pts vs target 91%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0" y="1691640"/>
          <a:ext cx="48463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321040" y="169164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EAF6F5"/>
          </a:solidFill>
          <a:ln/>
        </p:spPr>
      </p:sp>
      <p:sp>
        <p:nvSpPr>
          <p:cNvPr id="10" name="Text 7"/>
          <p:cNvSpPr/>
          <p:nvPr/>
        </p:nvSpPr>
        <p:spPr>
          <a:xfrm>
            <a:off x="8458200" y="172821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Age-verification completion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698480" y="1728216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21040" y="228600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EAF6F5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23225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 MAU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698480" y="2322576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42.1%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321040" y="288036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EAF6F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29169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support tickets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698480" y="2916936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· VPC Coverage by Platform</a:t>
            </a:r>
            <a:endParaRPr lang="en-US" sz="11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548640" y="3977640"/>
          <a:ext cx="51206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603504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· VPC Coverage by Age Band</a:t>
            </a:r>
            <a:endParaRPr lang="en-US" sz="1100" dirty="0"/>
          </a:p>
        </p:txBody>
      </p:sp>
      <p:graphicFrame>
        <p:nvGraphicFramePr>
          <p:cNvPr id="21" name="Chart 2" descr=""/>
          <p:cNvGraphicFramePr/>
          <p:nvPr/>
        </p:nvGraphicFramePr>
        <p:xfrm>
          <a:off x="6035040" y="3977640"/>
          <a:ext cx="54864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 17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DPDP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ROLLOUT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Launch, Because Compliance Isn't A/B-Testable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0665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842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· Weeks 1–2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 to 5% of new India signups aged 13–17; internal dogfooding first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096512" y="2583180"/>
            <a:ext cx="128016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7"/>
          <p:cNvSpPr/>
          <p:nvPr/>
        </p:nvSpPr>
        <p:spPr>
          <a:xfrm>
            <a:off x="425196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0665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19842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· Weeks 3–6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34840" y="25603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to 50% of new signups; begin flagging existing suspected-minor accounts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799832" y="2583180"/>
            <a:ext cx="128016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2"/>
          <p:cNvSpPr/>
          <p:nvPr/>
        </p:nvSpPr>
        <p:spPr>
          <a:xfrm>
            <a:off x="795528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A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44" y="206654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32520" y="19842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· Week 7+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38160" y="25603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 to all new and existing India accounts under 18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approach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" y="40690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VPC Coverage, funnel drop-off, and support tickets daily during each phase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progression to the next phase on guardrail metrics staying within bounds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parent NPS/feedback after their first consent-dashboard visit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093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Experimentation approach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309360" y="40690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 to obtain consent itself is a legal must — not something we A/B test by withholding it from a control group. What we DO A/B test: the wording, design, and channel (SMS vs. email vs. in-app) of the parent consent flow, to maximise completion without changing whether consent is required. The phased geographic/percentage rollout above is our compliance-safe substitute for a holdback experiment.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DPDP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RISKS &amp; TRADE-OFFS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Accepting to Get This Right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0C3A3E"/>
          </a:solidFill>
          <a:ln w="12700">
            <a:solidFill>
              <a:srgbClr val="155C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1579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complexity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 3rd-party ID/KYC vendor, a new parent dashboard, and a behavioural-flagging model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8745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0C3A3E"/>
          </a:solidFill>
          <a:ln w="12700">
            <a:solidFill>
              <a:srgbClr val="155C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2057400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1579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0440" y="30175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consent steps may dent signup conversion in the 13–17 segment and raise support costs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8745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0C3A3E"/>
          </a:solidFill>
          <a:ln w="12700">
            <a:solidFill>
              <a:srgbClr val="155C6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15798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impact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30175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teens face friction and possible delay in access while awaiting parental action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15400" y="18745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0C3A3E"/>
          </a:solidFill>
          <a:ln w="12700">
            <a:solidFill>
              <a:srgbClr val="155C6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98280" y="2057400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215798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98280" y="30175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decline consent, parents who never respond, repeat age-lying, deletion requests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we accepted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slightly more signup friction over the risk of non-compliance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a small conversion dip in the minor segment for legal and user safety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slower phased rollout over a faster big-bang launch to de-risk vendor issues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DPDP Compliance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DPDP Compliance – Verifiable Parental Consent</dc:title>
  <dc:subject>PptxGenJS Presentation</dc:subject>
  <dc:creator>Product Thinking Assignment</dc:creator>
  <cp:lastModifiedBy>Product Thinking Assignment</cp:lastModifiedBy>
  <cp:revision>1</cp:revision>
  <dcterms:created xsi:type="dcterms:W3CDTF">2026-07-04T17:28:35Z</dcterms:created>
  <dcterms:modified xsi:type="dcterms:W3CDTF">2026-07-04T17:28:35Z</dcterms:modified>
</cp:coreProperties>
</file>